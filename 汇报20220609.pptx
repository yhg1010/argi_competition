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3" r:id="rId2"/>
    <p:sldId id="294" r:id="rId3"/>
    <p:sldId id="288" r:id="rId4"/>
    <p:sldId id="295" r:id="rId5"/>
    <p:sldId id="282" r:id="rId6"/>
    <p:sldId id="297" r:id="rId7"/>
    <p:sldId id="298" r:id="rId8"/>
    <p:sldId id="305" r:id="rId9"/>
    <p:sldId id="306" r:id="rId10"/>
    <p:sldId id="304" r:id="rId11"/>
    <p:sldId id="303" r:id="rId12"/>
    <p:sldId id="307" r:id="rId13"/>
    <p:sldId id="299" r:id="rId14"/>
    <p:sldId id="308" r:id="rId15"/>
    <p:sldId id="296" r:id="rId16"/>
    <p:sldId id="289" r:id="rId17"/>
    <p:sldId id="283" r:id="rId18"/>
    <p:sldId id="292" r:id="rId19"/>
    <p:sldId id="290" r:id="rId20"/>
    <p:sldId id="285" r:id="rId21"/>
    <p:sldId id="286" r:id="rId22"/>
    <p:sldId id="291" r:id="rId23"/>
    <p:sldId id="28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5381"/>
  </p:normalViewPr>
  <p:slideViewPr>
    <p:cSldViewPr snapToGrid="0">
      <p:cViewPr varScale="1">
        <p:scale>
          <a:sx n="120" d="100"/>
          <a:sy n="120" d="100"/>
        </p:scale>
        <p:origin x="2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4D4DE-0F27-DB4B-B7E3-273D27A83576}" type="datetimeFigureOut">
              <a:rPr kumimoji="1" lang="zh-CN" altLang="en-US" smtClean="0"/>
              <a:t>2022/6/14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BFD12-C944-8B4A-8B20-32CA7C0C84C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58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BFD12-C944-8B4A-8B20-32CA7C0C84C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857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23B84-3FFE-809F-C615-08015DF9F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60301E-DFA3-644B-67C2-FC3E10F32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0E8536-10D1-B28E-D937-3D7DF18B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6AB9CE-D2D9-DC36-69E5-61ABCF39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FAB19B-3707-F1FF-4C42-B0719BC9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3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02020-D42D-97D0-BC58-6DEA55A5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0B98B-53A5-D64C-867F-23AFBDEE0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08320-379B-DCBB-34E0-B538706E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30DF6B-5479-23E3-3155-4689D176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BBE23E-EB31-7E3C-DD48-BBBA6F78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94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27961-0502-B531-CE7C-43B7FBBF2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175F43-F9D0-DAC4-5D35-2C9ABCEEB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82A18-275C-AAB6-1E21-B22EEA08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14165B-752C-6926-8B28-59BD82E6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F9D22-A70F-1BAA-58D6-A1D103BA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29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49452-9162-9214-A0CA-1E488EA21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CE681-9E3E-E81A-1E23-FC0711F3F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DAC4EE-68A8-7111-A618-474EA33F8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A66BF3-15B2-3E95-DC4B-52C7333E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D38D38-A31E-2C6D-4224-6ECCEA54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178FC5-6868-6D06-3394-36C9C40A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99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7255C8-301F-50EE-CFD2-2A4EAD39D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0E9970-8389-F4C7-C3F8-3E2EDFF89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D7D96C-B170-784C-06A9-8975061C2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4F39FA-6C14-51CD-3883-8A22D0A8F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47208B-2063-18CE-CD84-705FF3260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ABC0D3-1C95-1EB2-220E-D7E06449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90A8B7-48F4-CBDB-6D3E-3C0F077EC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1A0E99-7AB6-EFA5-AF22-41C7028E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98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57BC5F-28E9-C0DB-0B32-6468F623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7654133-EB44-CC8D-5AC2-3475ECE22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8E5358-2028-0FD7-C814-12ECCEF0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DDC0BA-9D6C-4FE2-D8A2-730F64B9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49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4ED42B-C167-39B9-156D-562D8B3A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69EA75-79F1-87F0-3D54-E2F73D0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2FFC77-F93F-8DC2-7EA4-4B6E19E9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79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99880-5F47-6499-24C2-96DC80A8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8BDBA3-0F1E-7958-5288-76FCDA8C7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1C2EF6-7806-CE9D-4436-A93C62EB6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6704DC-1783-8BC3-B5C0-4A99D1E00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A54EBA-BBA6-3FFF-7CA7-BB8C0D90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FD94D9-7D88-0A7D-2CAA-23B55B9E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45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0DD89-9965-46E4-702E-366A0C90F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F38131-F4A1-86C0-677D-2E948F544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9CDC24-67A9-88F1-A3D3-2223135A9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0F4E4F-A749-0BF4-E804-112496D2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65FA5-0012-1CFF-36FF-11DD5F8E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BCA129-1250-30CF-7367-70A4B1F4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35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74CA9-034C-1B20-3ED6-3A3AE775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A27439-8880-D372-751D-729EAC6E9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4F1A9-7DA3-8943-FF83-1469F79B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E2ED8-6B30-0ABE-5F10-C630224E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62D37-D900-BAAA-EB19-B8BB4A1A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3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A4AC1F-22CA-F45A-6C85-8A4C6FF1B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82F861-C1F9-228A-60F3-EF2526F03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E9E64-F2F4-1C06-FCFA-EB7465CD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6FF3C5-7F14-2774-EA55-11574D41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EFD0D-E690-64B4-16F7-02076742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24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636C1-BAA7-493F-B940-F206C549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ADD9A1-7432-3D5A-2CC1-598C637DD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632C8A-B17B-49FE-D798-EA0AE60D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DB530-8D1A-4225-A3B8-083B528473DA}" type="datetimeFigureOut">
              <a:rPr lang="zh-CN" altLang="en-US" smtClean="0"/>
              <a:t>2022/6/14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2E0DF2-0274-2D4F-52AA-1FF56232D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D69F2A-5AC6-B78C-6F77-B979F038FA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A91DE-2714-4742-9BA3-0397B82451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95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9F28309-5DBA-174B-9811-AFF3526884AE}"/>
              </a:ext>
            </a:extLst>
          </p:cNvPr>
          <p:cNvSpPr txBox="1"/>
          <p:nvPr/>
        </p:nvSpPr>
        <p:spPr>
          <a:xfrm>
            <a:off x="1072054" y="2343808"/>
            <a:ext cx="97220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</a:rPr>
              <a:t>上次农业遥感比赛总结</a:t>
            </a:r>
            <a:endParaRPr kumimoji="1" lang="en-US" altLang="zh-CN" sz="4800" dirty="0">
              <a:solidFill>
                <a:schemeClr val="tx2"/>
              </a:solidFill>
              <a:latin typeface="Heiti SC Medium" pitchFamily="2" charset="-128"/>
              <a:ea typeface="Heiti SC Medium" pitchFamily="2" charset="-128"/>
            </a:endParaRPr>
          </a:p>
          <a:p>
            <a:pPr algn="ctr"/>
            <a:r>
              <a:rPr kumimoji="1" lang="zh-CN" altLang="en-US" sz="4800" dirty="0">
                <a:solidFill>
                  <a:schemeClr val="tx2"/>
                </a:solidFill>
                <a:latin typeface="Heiti SC Medium" pitchFamily="2" charset="-128"/>
                <a:ea typeface="Heiti SC Medium" pitchFamily="2" charset="-128"/>
              </a:rPr>
              <a:t>和本次比赛介绍</a:t>
            </a:r>
          </a:p>
        </p:txBody>
      </p:sp>
    </p:spTree>
    <p:extLst>
      <p:ext uri="{BB962C8B-B14F-4D97-AF65-F5344CB8AC3E}">
        <p14:creationId xmlns:p14="http://schemas.microsoft.com/office/powerpoint/2010/main" val="423268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7">
            <a:extLst>
              <a:ext uri="{FF2B5EF4-FFF2-40B4-BE49-F238E27FC236}">
                <a16:creationId xmlns:a16="http://schemas.microsoft.com/office/drawing/2014/main" id="{1FC93E9F-1338-A84A-987A-64081DC0F072}"/>
              </a:ext>
            </a:extLst>
          </p:cNvPr>
          <p:cNvSpPr txBox="1">
            <a:spLocks/>
          </p:cNvSpPr>
          <p:nvPr/>
        </p:nvSpPr>
        <p:spPr>
          <a:xfrm>
            <a:off x="2638098" y="3531476"/>
            <a:ext cx="4992414" cy="1460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584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0" kern="1200">
                <a:solidFill>
                  <a:srgbClr val="20386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上次农业遥感比赛结果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比赛数据集介绍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基线模型介绍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改进点介绍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经验总结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zh-CN" altLang="en-US" sz="2400" dirty="0">
              <a:latin typeface="黑体" charset="0"/>
              <a:ea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03FC0B-DDBF-4E4C-971B-A67E4D3E64EC}"/>
              </a:ext>
            </a:extLst>
          </p:cNvPr>
          <p:cNvSpPr txBox="1"/>
          <p:nvPr/>
        </p:nvSpPr>
        <p:spPr>
          <a:xfrm>
            <a:off x="2280743" y="1040524"/>
            <a:ext cx="503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charset="0"/>
                <a:ea typeface="黑体" charset="0"/>
              </a:rPr>
              <a:t>上次农业遥感比赛总结</a:t>
            </a:r>
            <a:endParaRPr kumimoji="1" lang="zh-CN" altLang="en-US" sz="3200" dirty="0">
              <a:solidFill>
                <a:schemeClr val="tx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3CA22C-1F54-A14C-AD65-F0FCA3EDD9D1}"/>
              </a:ext>
            </a:extLst>
          </p:cNvPr>
          <p:cNvSpPr txBox="1"/>
          <p:nvPr/>
        </p:nvSpPr>
        <p:spPr>
          <a:xfrm>
            <a:off x="2280742" y="4261945"/>
            <a:ext cx="503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charset="0"/>
                <a:ea typeface="黑体" charset="0"/>
              </a:rPr>
              <a:t>本次比赛去年情况介绍</a:t>
            </a:r>
            <a:endParaRPr kumimoji="1" lang="zh-CN" altLang="en-US" sz="3200" dirty="0">
              <a:solidFill>
                <a:schemeClr val="tx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BA448C-88F6-694B-8CD8-FAF59C8A1E25}"/>
              </a:ext>
            </a:extLst>
          </p:cNvPr>
          <p:cNvSpPr txBox="1"/>
          <p:nvPr/>
        </p:nvSpPr>
        <p:spPr>
          <a:xfrm>
            <a:off x="2280742" y="4992413"/>
            <a:ext cx="5034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2"/>
                </a:solidFill>
                <a:latin typeface="黑体" charset="0"/>
                <a:ea typeface="黑体" charset="0"/>
              </a:rPr>
              <a:t>本次比赛今年情况介绍</a:t>
            </a:r>
            <a:endParaRPr kumimoji="1" lang="zh-CN" alt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88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标题 7"/>
          <p:cNvSpPr txBox="1">
            <a:spLocks noGrp="1"/>
          </p:cNvSpPr>
          <p:nvPr>
            <p:ph type="title"/>
          </p:nvPr>
        </p:nvSpPr>
        <p:spPr>
          <a:xfrm>
            <a:off x="957825" y="223039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sz="2800" dirty="0" err="1">
                <a:latin typeface="黑体" charset="0"/>
                <a:ea typeface="黑体" charset="0"/>
              </a:rPr>
              <a:t>上次</a:t>
            </a:r>
            <a:r>
              <a:rPr lang="zh-CN" altLang="en-US" sz="2800" dirty="0">
                <a:latin typeface="黑体" charset="0"/>
                <a:ea typeface="黑体" charset="0"/>
              </a:rPr>
              <a:t>农业遥感</a:t>
            </a:r>
            <a:r>
              <a:rPr sz="2800" dirty="0" err="1">
                <a:latin typeface="黑体" charset="0"/>
                <a:ea typeface="黑体" charset="0"/>
              </a:rPr>
              <a:t>比赛</a:t>
            </a:r>
            <a:r>
              <a:rPr lang="zh-CN" altLang="en-US" sz="2800" dirty="0">
                <a:latin typeface="黑体" charset="0"/>
                <a:ea typeface="黑体" charset="0"/>
              </a:rPr>
              <a:t>结果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300" name="文本框 2"/>
          <p:cNvSpPr txBox="1"/>
          <p:nvPr/>
        </p:nvSpPr>
        <p:spPr>
          <a:xfrm>
            <a:off x="1729126" y="1867455"/>
            <a:ext cx="8660674" cy="232852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sz="2000" dirty="0" err="1">
                <a:latin typeface="黑体" charset="0"/>
                <a:ea typeface="黑体" charset="0"/>
                <a:cs typeface="黑体" charset="0"/>
                <a:sym typeface="Helvetica"/>
              </a:rPr>
              <a:t>目标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>
                <a:latin typeface="黑体" charset="0"/>
                <a:ea typeface="黑体" charset="0"/>
                <a:cs typeface="黑体" charset="0"/>
                <a:sym typeface="Helvetica"/>
              </a:rPr>
              <a:t>    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 </a:t>
            </a:r>
            <a:r>
              <a:rPr sz="2000" dirty="0" err="1">
                <a:latin typeface="黑体" charset="0"/>
                <a:ea typeface="黑体" charset="0"/>
                <a:cs typeface="黑体" charset="0"/>
                <a:sym typeface="Helvetica"/>
              </a:rPr>
              <a:t>实现包括</a:t>
            </a:r>
            <a:r>
              <a:rPr lang="zh-CN" altLang="zh-CN" sz="20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间作、干旱、末行、营养不良、播种机遗漏、静水、排水沟</a:t>
            </a:r>
            <a:r>
              <a:rPr lang="en-US" altLang="zh-CN" sz="20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zh-CN" sz="20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和杂草丛生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八</a:t>
            </a:r>
            <a:r>
              <a:rPr sz="2000" dirty="0" err="1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个类别</a:t>
            </a:r>
            <a:r>
              <a:rPr sz="2000" dirty="0" err="1">
                <a:latin typeface="黑体" charset="0"/>
                <a:ea typeface="黑体" charset="0"/>
                <a:cs typeface="黑体" charset="0"/>
                <a:sym typeface="Helvetica"/>
              </a:rPr>
              <a:t>的分割</a:t>
            </a:r>
            <a:endParaRPr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最终结果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>
                <a:latin typeface="黑体" charset="0"/>
                <a:ea typeface="黑体" charset="0"/>
                <a:cs typeface="黑体" charset="0"/>
                <a:sym typeface="Helvetica"/>
              </a:rPr>
              <a:t>    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 一共有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83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个参加队伍，最终排名第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9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61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标题 7"/>
          <p:cNvSpPr txBox="1">
            <a:spLocks noGrp="1"/>
          </p:cNvSpPr>
          <p:nvPr>
            <p:ph type="title"/>
          </p:nvPr>
        </p:nvSpPr>
        <p:spPr>
          <a:xfrm>
            <a:off x="957825" y="223039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sz="2800" dirty="0" err="1">
                <a:latin typeface="黑体" charset="0"/>
                <a:ea typeface="黑体" charset="0"/>
              </a:rPr>
              <a:t>比赛</a:t>
            </a:r>
            <a:r>
              <a:rPr lang="zh-CN" altLang="en-US" sz="2800" dirty="0">
                <a:latin typeface="黑体" charset="0"/>
                <a:ea typeface="黑体" charset="0"/>
              </a:rPr>
              <a:t>数据集介绍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300" name="文本框 2"/>
          <p:cNvSpPr txBox="1"/>
          <p:nvPr/>
        </p:nvSpPr>
        <p:spPr>
          <a:xfrm>
            <a:off x="814726" y="1594769"/>
            <a:ext cx="10830735" cy="325185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sz="2000" dirty="0" err="1">
                <a:latin typeface="黑体" charset="0"/>
                <a:ea typeface="黑体" charset="0"/>
                <a:sym typeface="Helvetica"/>
              </a:rPr>
              <a:t>数据</a:t>
            </a:r>
            <a:r>
              <a:rPr sz="2000" dirty="0">
                <a:latin typeface="黑体" charset="0"/>
                <a:ea typeface="黑体" charset="0"/>
              </a:rPr>
              <a:t>: </a:t>
            </a:r>
          </a:p>
          <a:p>
            <a:pPr>
              <a:lnSpc>
                <a:spcPct val="150000"/>
              </a:lnSpc>
              <a:defRPr sz="2000"/>
            </a:pPr>
            <a:r>
              <a:rPr sz="2000" dirty="0">
                <a:latin typeface="黑体" charset="0"/>
                <a:ea typeface="黑体" charset="0"/>
                <a:sym typeface="Helvetica"/>
              </a:rPr>
              <a:t>    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无人机拍摄</a:t>
            </a:r>
            <a:r>
              <a:rPr sz="2000" dirty="0">
                <a:latin typeface="黑体" charset="0"/>
                <a:ea typeface="黑体" charset="0"/>
                <a:sym typeface="Helvetica"/>
              </a:rPr>
              <a:t>，</a:t>
            </a:r>
            <a:r>
              <a:rPr sz="2000" dirty="0" err="1">
                <a:latin typeface="黑体" charset="0"/>
                <a:ea typeface="黑体" charset="0"/>
                <a:sym typeface="Helvetica"/>
              </a:rPr>
              <a:t>包括</a:t>
            </a:r>
            <a:r>
              <a:rPr sz="2000" dirty="0" err="1">
                <a:solidFill>
                  <a:srgbClr val="FF0000"/>
                </a:solidFill>
                <a:latin typeface="黑体" charset="0"/>
                <a:ea typeface="黑体" charset="0"/>
              </a:rPr>
              <a:t>RGB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NIR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四</a:t>
            </a:r>
            <a:r>
              <a:rPr sz="2000" dirty="0" err="1">
                <a:latin typeface="黑体" charset="0"/>
                <a:ea typeface="黑体" charset="0"/>
                <a:sym typeface="Helvetica"/>
              </a:rPr>
              <a:t>个波段</a:t>
            </a:r>
            <a:r>
              <a:rPr sz="2000" dirty="0">
                <a:latin typeface="黑体" charset="0"/>
                <a:ea typeface="黑体" charset="0"/>
                <a:sym typeface="Helvetica"/>
              </a:rPr>
              <a:t>，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共约十万张图像，训练集验证集测试集</a:t>
            </a:r>
            <a:r>
              <a:rPr lang="en-US" altLang="zh-CN" sz="2000" dirty="0">
                <a:latin typeface="黑体" charset="0"/>
                <a:ea typeface="黑体" charset="0"/>
                <a:sym typeface="Helvetica"/>
              </a:rPr>
              <a:t>6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：</a:t>
            </a:r>
            <a:r>
              <a:rPr lang="en-US" altLang="zh-CN" sz="2000" dirty="0">
                <a:latin typeface="黑体" charset="0"/>
                <a:ea typeface="黑体" charset="0"/>
                <a:sym typeface="Helvetica"/>
              </a:rPr>
              <a:t>2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：</a:t>
            </a:r>
            <a:r>
              <a:rPr lang="en-US" altLang="zh-CN" sz="2000" dirty="0">
                <a:latin typeface="黑体" charset="0"/>
                <a:ea typeface="黑体" charset="0"/>
                <a:sym typeface="Helvetica"/>
              </a:rPr>
              <a:t>2</a:t>
            </a:r>
            <a:r>
              <a:rPr sz="2000" dirty="0">
                <a:latin typeface="黑体" charset="0"/>
                <a:ea typeface="黑体" charset="0"/>
                <a:sym typeface="Helvetica"/>
              </a:rPr>
              <a:t>，</a:t>
            </a:r>
            <a:r>
              <a:rPr lang="zh-CN" altLang="en-US" sz="2000" dirty="0">
                <a:latin typeface="黑体" charset="0"/>
                <a:ea typeface="黑体" charset="0"/>
                <a:sym typeface="Helvetica"/>
              </a:rPr>
              <a:t>图像大小</a:t>
            </a:r>
            <a:r>
              <a:rPr lang="en-US"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512</a:t>
            </a:r>
            <a:r>
              <a:rPr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*</a:t>
            </a:r>
            <a:r>
              <a:rPr lang="en-US"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512</a:t>
            </a: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</a:rPr>
              <a:t>    九种标签：</a:t>
            </a:r>
            <a:r>
              <a:rPr lang="zh-CN" altLang="zh-CN" sz="2000" dirty="0">
                <a:latin typeface="黑体" charset="0"/>
                <a:ea typeface="黑体" charset="0"/>
              </a:rPr>
              <a:t>间作（</a:t>
            </a:r>
            <a:r>
              <a:rPr lang="en-US" altLang="zh-CN" sz="2000" dirty="0">
                <a:latin typeface="黑体" charset="0"/>
                <a:ea typeface="黑体" charset="0"/>
              </a:rPr>
              <a:t>Double plant</a:t>
            </a:r>
            <a:r>
              <a:rPr lang="zh-CN" altLang="zh-CN" sz="2000" dirty="0">
                <a:latin typeface="黑体" charset="0"/>
                <a:ea typeface="黑体" charset="0"/>
              </a:rPr>
              <a:t>）、干旱（</a:t>
            </a:r>
            <a:r>
              <a:rPr lang="en-US" altLang="zh-CN" sz="2000" dirty="0" err="1">
                <a:latin typeface="黑体" charset="0"/>
                <a:ea typeface="黑体" charset="0"/>
              </a:rPr>
              <a:t>Drydown</a:t>
            </a:r>
            <a:r>
              <a:rPr lang="zh-CN" altLang="zh-CN" sz="2000" dirty="0">
                <a:latin typeface="黑体" charset="0"/>
                <a:ea typeface="黑体" charset="0"/>
              </a:rPr>
              <a:t>）、末行（</a:t>
            </a:r>
            <a:r>
              <a:rPr lang="en-US" altLang="zh-CN" sz="2000" dirty="0" err="1">
                <a:latin typeface="黑体" charset="0"/>
                <a:ea typeface="黑体" charset="0"/>
              </a:rPr>
              <a:t>Endrow</a:t>
            </a:r>
            <a:r>
              <a:rPr lang="zh-CN" altLang="zh-CN" sz="2000" dirty="0">
                <a:latin typeface="黑体" charset="0"/>
                <a:ea typeface="黑体" charset="0"/>
              </a:rPr>
              <a:t>）、营养不良（</a:t>
            </a:r>
            <a:r>
              <a:rPr lang="en-US" altLang="zh-CN" sz="2000" dirty="0">
                <a:latin typeface="黑体" charset="0"/>
                <a:ea typeface="黑体" charset="0"/>
              </a:rPr>
              <a:t>Nutrient deficiency</a:t>
            </a:r>
            <a:r>
              <a:rPr lang="zh-CN" altLang="zh-CN" sz="2000" dirty="0">
                <a:latin typeface="黑体" charset="0"/>
                <a:ea typeface="黑体" charset="0"/>
              </a:rPr>
              <a:t>）、播种机遗漏（</a:t>
            </a:r>
            <a:r>
              <a:rPr lang="en-US" altLang="zh-CN" sz="2000" dirty="0">
                <a:latin typeface="黑体" charset="0"/>
                <a:ea typeface="黑体" charset="0"/>
              </a:rPr>
              <a:t>Planter skip</a:t>
            </a:r>
            <a:r>
              <a:rPr lang="zh-CN" altLang="zh-CN" sz="2000" dirty="0">
                <a:latin typeface="黑体" charset="0"/>
                <a:ea typeface="黑体" charset="0"/>
              </a:rPr>
              <a:t>）、风暴损害（</a:t>
            </a:r>
            <a:r>
              <a:rPr lang="en-US" altLang="zh-CN" sz="2000" dirty="0">
                <a:latin typeface="黑体" charset="0"/>
                <a:ea typeface="黑体" charset="0"/>
              </a:rPr>
              <a:t>Storm damage</a:t>
            </a:r>
            <a:r>
              <a:rPr lang="zh-CN" altLang="zh-CN" sz="2000" dirty="0">
                <a:latin typeface="黑体" charset="0"/>
                <a:ea typeface="黑体" charset="0"/>
              </a:rPr>
              <a:t>）、静水（</a:t>
            </a:r>
            <a:r>
              <a:rPr lang="en-US" altLang="zh-CN" sz="2000" dirty="0">
                <a:latin typeface="黑体" charset="0"/>
                <a:ea typeface="黑体" charset="0"/>
              </a:rPr>
              <a:t>Water</a:t>
            </a:r>
            <a:r>
              <a:rPr lang="zh-CN" altLang="zh-CN" sz="2000" dirty="0">
                <a:latin typeface="黑体" charset="0"/>
                <a:ea typeface="黑体" charset="0"/>
              </a:rPr>
              <a:t>）、排水沟（</a:t>
            </a:r>
            <a:r>
              <a:rPr lang="en-US" altLang="zh-CN" sz="2000" dirty="0">
                <a:latin typeface="黑体" charset="0"/>
                <a:ea typeface="黑体" charset="0"/>
              </a:rPr>
              <a:t>Waterway</a:t>
            </a:r>
            <a:r>
              <a:rPr lang="zh-CN" altLang="zh-CN" sz="2000" dirty="0">
                <a:latin typeface="黑体" charset="0"/>
                <a:ea typeface="黑体" charset="0"/>
              </a:rPr>
              <a:t>）和杂草丛生（</a:t>
            </a:r>
            <a:r>
              <a:rPr lang="en-US" altLang="zh-CN" sz="2000" dirty="0">
                <a:latin typeface="黑体" charset="0"/>
                <a:ea typeface="黑体" charset="0"/>
              </a:rPr>
              <a:t>Weed cluster</a:t>
            </a:r>
            <a:r>
              <a:rPr lang="zh-CN" altLang="zh-CN" sz="2000" dirty="0">
                <a:latin typeface="黑体" charset="0"/>
                <a:ea typeface="黑体" charset="0"/>
              </a:rPr>
              <a:t>）</a:t>
            </a:r>
            <a:endParaRPr lang="zh-CN" altLang="en-US" sz="2000" dirty="0">
              <a:latin typeface="黑体" charset="0"/>
              <a:ea typeface="黑体" charset="0"/>
            </a:endParaRPr>
          </a:p>
          <a:p>
            <a:pPr>
              <a:lnSpc>
                <a:spcPct val="150000"/>
              </a:lnSpc>
              <a:defRPr sz="2000"/>
            </a:pPr>
            <a:endParaRPr sz="2000" dirty="0">
              <a:latin typeface="Heiti SC Light" panose="02000000000000000000" pitchFamily="2" charset="-128"/>
              <a:ea typeface="Heiti SC Light" panose="02000000000000000000" pitchFamily="2" charset="-128"/>
              <a:cs typeface="黑体" charset="0"/>
            </a:endParaRPr>
          </a:p>
        </p:txBody>
      </p:sp>
      <p:pic>
        <p:nvPicPr>
          <p:cNvPr id="9" name="图片 16" descr="图片 16">
            <a:extLst>
              <a:ext uri="{FF2B5EF4-FFF2-40B4-BE49-F238E27FC236}">
                <a16:creationId xmlns:a16="http://schemas.microsoft.com/office/drawing/2014/main" id="{81EFF108-56A8-E3D3-F0D5-8BA44F265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71" y="4568809"/>
            <a:ext cx="3870426" cy="1454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图片 19" descr="图片 19">
            <a:extLst>
              <a:ext uri="{FF2B5EF4-FFF2-40B4-BE49-F238E27FC236}">
                <a16:creationId xmlns:a16="http://schemas.microsoft.com/office/drawing/2014/main" id="{5DBD2558-2FFA-7B81-E51E-6BB5C6BFC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244" y="4649911"/>
            <a:ext cx="3801404" cy="1373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1" name="图片 3">
            <a:extLst>
              <a:ext uri="{FF2B5EF4-FFF2-40B4-BE49-F238E27FC236}">
                <a16:creationId xmlns:a16="http://schemas.microsoft.com/office/drawing/2014/main" id="{B111373E-8233-B13F-50C3-B70B1D00B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67" y="4680851"/>
            <a:ext cx="3734107" cy="1318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 descr="图片 4">
            <a:extLst>
              <a:ext uri="{FF2B5EF4-FFF2-40B4-BE49-F238E27FC236}">
                <a16:creationId xmlns:a16="http://schemas.microsoft.com/office/drawing/2014/main" id="{173E23D4-8736-A448-B1C0-9AC658487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47" y="665670"/>
            <a:ext cx="91440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8" name="图片 15" descr="图片 15">
            <a:extLst>
              <a:ext uri="{FF2B5EF4-FFF2-40B4-BE49-F238E27FC236}">
                <a16:creationId xmlns:a16="http://schemas.microsoft.com/office/drawing/2014/main" id="{C2358AF5-C7B6-4D48-8505-5BF8F993D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47" y="1241933"/>
            <a:ext cx="91440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708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基线模型介绍</a:t>
            </a:r>
            <a:endParaRPr sz="2800" dirty="0">
              <a:latin typeface="黑体" charset="0"/>
              <a:ea typeface="黑体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EB302C-71D3-704E-B177-D022F8D7B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392" y="1737930"/>
            <a:ext cx="73183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2">
            <a:extLst>
              <a:ext uri="{FF2B5EF4-FFF2-40B4-BE49-F238E27FC236}">
                <a16:creationId xmlns:a16="http://schemas.microsoft.com/office/drawing/2014/main" id="{8E48EFE5-FB7B-334B-B2E3-AECE74662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67" y="2588830"/>
            <a:ext cx="11350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输入图像</a:t>
            </a:r>
            <a:endParaRPr lang="zh-CN" altLang="en-US" sz="16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DB1CE2-EBB2-794C-9EB7-0A0228295885}"/>
              </a:ext>
            </a:extLst>
          </p:cNvPr>
          <p:cNvSpPr/>
          <p:nvPr/>
        </p:nvSpPr>
        <p:spPr>
          <a:xfrm>
            <a:off x="4686355" y="1480755"/>
            <a:ext cx="107950" cy="12525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0A888F-1D85-374E-8477-6EAADF38A455}"/>
              </a:ext>
            </a:extLst>
          </p:cNvPr>
          <p:cNvSpPr/>
          <p:nvPr/>
        </p:nvSpPr>
        <p:spPr>
          <a:xfrm>
            <a:off x="4903842" y="1625218"/>
            <a:ext cx="161925" cy="965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AB965A-B026-C64E-A03E-905BFB5F5FB6}"/>
              </a:ext>
            </a:extLst>
          </p:cNvPr>
          <p:cNvSpPr/>
          <p:nvPr/>
        </p:nvSpPr>
        <p:spPr>
          <a:xfrm>
            <a:off x="5175305" y="1769680"/>
            <a:ext cx="215900" cy="6762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7CE826-C837-284B-BB80-8F2FA3C06D05}"/>
              </a:ext>
            </a:extLst>
          </p:cNvPr>
          <p:cNvSpPr/>
          <p:nvPr/>
        </p:nvSpPr>
        <p:spPr>
          <a:xfrm>
            <a:off x="5502330" y="1912555"/>
            <a:ext cx="269875" cy="3889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FD9B4A-A0ED-C148-9B73-496124266EFA}"/>
              </a:ext>
            </a:extLst>
          </p:cNvPr>
          <p:cNvSpPr/>
          <p:nvPr/>
        </p:nvSpPr>
        <p:spPr>
          <a:xfrm>
            <a:off x="7067605" y="1480755"/>
            <a:ext cx="107950" cy="12525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10BF02-DEB0-BD4C-BBF8-221CE704EAB9}"/>
              </a:ext>
            </a:extLst>
          </p:cNvPr>
          <p:cNvSpPr/>
          <p:nvPr/>
        </p:nvSpPr>
        <p:spPr>
          <a:xfrm>
            <a:off x="6797730" y="1625218"/>
            <a:ext cx="161925" cy="9652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6E982A-6EBA-174D-A9C7-E0E1878418C5}"/>
              </a:ext>
            </a:extLst>
          </p:cNvPr>
          <p:cNvSpPr/>
          <p:nvPr/>
        </p:nvSpPr>
        <p:spPr>
          <a:xfrm>
            <a:off x="6473880" y="1769680"/>
            <a:ext cx="217487" cy="67627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C0096F-F7E8-8C4F-9F6F-520A241B8C3E}"/>
              </a:ext>
            </a:extLst>
          </p:cNvPr>
          <p:cNvSpPr/>
          <p:nvPr/>
        </p:nvSpPr>
        <p:spPr>
          <a:xfrm>
            <a:off x="6097642" y="1912555"/>
            <a:ext cx="269875" cy="38893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4" name="图片 28">
            <a:extLst>
              <a:ext uri="{FF2B5EF4-FFF2-40B4-BE49-F238E27FC236}">
                <a16:creationId xmlns:a16="http://schemas.microsoft.com/office/drawing/2014/main" id="{26A5C5FD-E18F-F24F-8E43-3DDFD0016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042" y="1610930"/>
            <a:ext cx="7302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26">
            <a:extLst>
              <a:ext uri="{FF2B5EF4-FFF2-40B4-BE49-F238E27FC236}">
                <a16:creationId xmlns:a16="http://schemas.microsoft.com/office/drawing/2014/main" id="{42AAC9E8-8B24-C34F-88CD-0FF85CB80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142" y="1739518"/>
            <a:ext cx="7302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32">
            <a:extLst>
              <a:ext uri="{FF2B5EF4-FFF2-40B4-BE49-F238E27FC236}">
                <a16:creationId xmlns:a16="http://schemas.microsoft.com/office/drawing/2014/main" id="{FF916DE2-65BE-EF4D-AE14-6EB897FC4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817" y="1737930"/>
            <a:ext cx="731838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33">
            <a:extLst>
              <a:ext uri="{FF2B5EF4-FFF2-40B4-BE49-F238E27FC236}">
                <a16:creationId xmlns:a16="http://schemas.microsoft.com/office/drawing/2014/main" id="{33EAA5C3-4F65-CC46-9D34-5A6AEF7DB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742" y="1610930"/>
            <a:ext cx="73342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34">
            <a:extLst>
              <a:ext uri="{FF2B5EF4-FFF2-40B4-BE49-F238E27FC236}">
                <a16:creationId xmlns:a16="http://schemas.microsoft.com/office/drawing/2014/main" id="{46E0C185-9A5A-1840-B8C9-CD8C26208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017" y="1739518"/>
            <a:ext cx="7302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2">
            <a:extLst>
              <a:ext uri="{FF2B5EF4-FFF2-40B4-BE49-F238E27FC236}">
                <a16:creationId xmlns:a16="http://schemas.microsoft.com/office/drawing/2014/main" id="{892169D7-5257-B040-81C9-0A96D340D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355" y="2582480"/>
            <a:ext cx="10461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数据增强</a:t>
            </a:r>
          </a:p>
        </p:txBody>
      </p:sp>
      <p:sp>
        <p:nvSpPr>
          <p:cNvPr id="20" name="文本框 12">
            <a:extLst>
              <a:ext uri="{FF2B5EF4-FFF2-40B4-BE49-F238E27FC236}">
                <a16:creationId xmlns:a16="http://schemas.microsoft.com/office/drawing/2014/main" id="{8BCDCCF0-0940-F548-9EC1-C32269937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55" y="2688843"/>
            <a:ext cx="1095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骨干网络</a:t>
            </a:r>
          </a:p>
        </p:txBody>
      </p:sp>
      <p:sp>
        <p:nvSpPr>
          <p:cNvPr id="21" name="文本框 12">
            <a:extLst>
              <a:ext uri="{FF2B5EF4-FFF2-40B4-BE49-F238E27FC236}">
                <a16:creationId xmlns:a16="http://schemas.microsoft.com/office/drawing/2014/main" id="{EBE7A51F-BB64-134A-8770-EFD3C1D3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455" y="2688843"/>
            <a:ext cx="914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解码器</a:t>
            </a:r>
          </a:p>
        </p:txBody>
      </p:sp>
      <p:sp>
        <p:nvSpPr>
          <p:cNvPr id="22" name="文本框 12">
            <a:extLst>
              <a:ext uri="{FF2B5EF4-FFF2-40B4-BE49-F238E27FC236}">
                <a16:creationId xmlns:a16="http://schemas.microsoft.com/office/drawing/2014/main" id="{8EC1F452-6144-CD45-907C-66745EB73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517" y="2582480"/>
            <a:ext cx="8191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预测</a:t>
            </a:r>
          </a:p>
        </p:txBody>
      </p:sp>
      <p:sp>
        <p:nvSpPr>
          <p:cNvPr id="23" name="文本框 12">
            <a:extLst>
              <a:ext uri="{FF2B5EF4-FFF2-40B4-BE49-F238E27FC236}">
                <a16:creationId xmlns:a16="http://schemas.microsoft.com/office/drawing/2014/main" id="{0F2115BC-FFDC-0442-90F9-BC2460F34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5955" y="2590418"/>
            <a:ext cx="819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600">
                <a:latin typeface="等线" panose="02010600030101010101" pitchFamily="2" charset="-122"/>
                <a:cs typeface="Times New Roman" panose="02020603050405020304" pitchFamily="18" charset="0"/>
              </a:rPr>
              <a:t>真值</a:t>
            </a:r>
          </a:p>
        </p:txBody>
      </p:sp>
      <p:cxnSp>
        <p:nvCxnSpPr>
          <p:cNvPr id="24" name="直接箭头连接符 25">
            <a:extLst>
              <a:ext uri="{FF2B5EF4-FFF2-40B4-BE49-F238E27FC236}">
                <a16:creationId xmlns:a16="http://schemas.microsoft.com/office/drawing/2014/main" id="{58B1BCD1-73D1-2741-8024-8E6A67B9A122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2827392" y="2103055"/>
            <a:ext cx="555625" cy="1588"/>
          </a:xfrm>
          <a:prstGeom prst="straightConnector1">
            <a:avLst/>
          </a:prstGeom>
          <a:ln w="412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6">
            <a:extLst>
              <a:ext uri="{FF2B5EF4-FFF2-40B4-BE49-F238E27FC236}">
                <a16:creationId xmlns:a16="http://schemas.microsoft.com/office/drawing/2014/main" id="{3457DEB0-040F-B249-A1AE-91F8CD472A8B}"/>
              </a:ext>
            </a:extLst>
          </p:cNvPr>
          <p:cNvCxnSpPr>
            <a:cxnSpLocks/>
          </p:cNvCxnSpPr>
          <p:nvPr/>
        </p:nvCxnSpPr>
        <p:spPr>
          <a:xfrm>
            <a:off x="4105330" y="2101468"/>
            <a:ext cx="554037" cy="0"/>
          </a:xfrm>
          <a:prstGeom prst="straightConnector1">
            <a:avLst/>
          </a:prstGeom>
          <a:ln w="412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7">
            <a:extLst>
              <a:ext uri="{FF2B5EF4-FFF2-40B4-BE49-F238E27FC236}">
                <a16:creationId xmlns:a16="http://schemas.microsoft.com/office/drawing/2014/main" id="{CFC79F3C-AA8A-1042-B407-91113ED0779C}"/>
              </a:ext>
            </a:extLst>
          </p:cNvPr>
          <p:cNvCxnSpPr>
            <a:cxnSpLocks/>
          </p:cNvCxnSpPr>
          <p:nvPr/>
        </p:nvCxnSpPr>
        <p:spPr>
          <a:xfrm>
            <a:off x="5751567" y="2107818"/>
            <a:ext cx="368300" cy="0"/>
          </a:xfrm>
          <a:prstGeom prst="straightConnector1">
            <a:avLst/>
          </a:prstGeom>
          <a:ln w="412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8">
            <a:extLst>
              <a:ext uri="{FF2B5EF4-FFF2-40B4-BE49-F238E27FC236}">
                <a16:creationId xmlns:a16="http://schemas.microsoft.com/office/drawing/2014/main" id="{B4110227-03A8-5440-9014-EC338116A661}"/>
              </a:ext>
            </a:extLst>
          </p:cNvPr>
          <p:cNvCxnSpPr>
            <a:cxnSpLocks/>
          </p:cNvCxnSpPr>
          <p:nvPr/>
        </p:nvCxnSpPr>
        <p:spPr>
          <a:xfrm>
            <a:off x="7197780" y="2101468"/>
            <a:ext cx="342900" cy="1587"/>
          </a:xfrm>
          <a:prstGeom prst="straightConnector1">
            <a:avLst/>
          </a:prstGeom>
          <a:ln w="412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箭头: 左右 29">
            <a:extLst>
              <a:ext uri="{FF2B5EF4-FFF2-40B4-BE49-F238E27FC236}">
                <a16:creationId xmlns:a16="http://schemas.microsoft.com/office/drawing/2014/main" id="{76446EA3-2230-EE49-83AC-4C17F09576D1}"/>
              </a:ext>
            </a:extLst>
          </p:cNvPr>
          <p:cNvSpPr/>
          <p:nvPr/>
        </p:nvSpPr>
        <p:spPr>
          <a:xfrm>
            <a:off x="8267755" y="2007805"/>
            <a:ext cx="879475" cy="198438"/>
          </a:xfrm>
          <a:prstGeom prst="leftRightArrow">
            <a:avLst>
              <a:gd name="adj1" fmla="val 70347"/>
              <a:gd name="adj2" fmla="val 88077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1200" dirty="0"/>
              <a:t>loss</a:t>
            </a:r>
            <a:endParaRPr lang="zh-CN" altLang="en-US" sz="12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2E4B255-0B20-CB43-8871-696482EDDD9A}"/>
              </a:ext>
            </a:extLst>
          </p:cNvPr>
          <p:cNvCxnSpPr/>
          <p:nvPr/>
        </p:nvCxnSpPr>
        <p:spPr>
          <a:xfrm>
            <a:off x="2532993" y="2926968"/>
            <a:ext cx="0" cy="10774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734F786-F143-9047-8B8C-061E49A2A190}"/>
              </a:ext>
            </a:extLst>
          </p:cNvPr>
          <p:cNvCxnSpPr/>
          <p:nvPr/>
        </p:nvCxnSpPr>
        <p:spPr>
          <a:xfrm>
            <a:off x="5352612" y="2926968"/>
            <a:ext cx="0" cy="10774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F8737800-BF44-7E4F-BAC9-3A7D65B7114C}"/>
              </a:ext>
            </a:extLst>
          </p:cNvPr>
          <p:cNvCxnSpPr/>
          <p:nvPr/>
        </p:nvCxnSpPr>
        <p:spPr>
          <a:xfrm>
            <a:off x="6686331" y="2926968"/>
            <a:ext cx="0" cy="10774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770ADF79-174A-5947-A2C9-9DD11ABD1508}"/>
              </a:ext>
            </a:extLst>
          </p:cNvPr>
          <p:cNvCxnSpPr>
            <a:cxnSpLocks/>
          </p:cNvCxnSpPr>
          <p:nvPr/>
        </p:nvCxnSpPr>
        <p:spPr>
          <a:xfrm>
            <a:off x="8781831" y="2301493"/>
            <a:ext cx="0" cy="17029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9624FA1-5355-CC4C-BCCC-3B6DE0FBDE8D}"/>
              </a:ext>
            </a:extLst>
          </p:cNvPr>
          <p:cNvSpPr txBox="1"/>
          <p:nvPr/>
        </p:nvSpPr>
        <p:spPr>
          <a:xfrm>
            <a:off x="1671035" y="4208354"/>
            <a:ext cx="249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Agriculture-Vision</a:t>
            </a:r>
            <a:endParaRPr kumimoji="1" lang="zh-CN" altLang="en-US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0A6AA2E-3BBD-7A42-9832-6E1AD18C3577}"/>
              </a:ext>
            </a:extLst>
          </p:cNvPr>
          <p:cNvSpPr txBox="1"/>
          <p:nvPr/>
        </p:nvSpPr>
        <p:spPr>
          <a:xfrm>
            <a:off x="4654768" y="4202560"/>
            <a:ext cx="1395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ConvNeXt</a:t>
            </a:r>
            <a:endParaRPr kumimoji="1" lang="zh-CN" altLang="en-US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F74AEF2-8575-4640-A54E-29FA129D59B5}"/>
              </a:ext>
            </a:extLst>
          </p:cNvPr>
          <p:cNvSpPr txBox="1"/>
          <p:nvPr/>
        </p:nvSpPr>
        <p:spPr>
          <a:xfrm>
            <a:off x="6136262" y="4209457"/>
            <a:ext cx="110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UPernet</a:t>
            </a:r>
            <a:endParaRPr kumimoji="1" lang="zh-CN" altLang="en-US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CE8B05B-9ADB-894D-93FB-236DBC7C83C2}"/>
              </a:ext>
            </a:extLst>
          </p:cNvPr>
          <p:cNvSpPr txBox="1"/>
          <p:nvPr/>
        </p:nvSpPr>
        <p:spPr>
          <a:xfrm>
            <a:off x="7900906" y="4196012"/>
            <a:ext cx="217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CrossEntropy</a:t>
            </a:r>
            <a:r>
              <a:rPr kumimoji="1" lang="zh-CN" altLang="en-US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kumimoji="1" lang="en-US" altLang="zh-CN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Loss</a:t>
            </a:r>
            <a:endParaRPr kumimoji="1" lang="zh-CN" altLang="en-US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7EFC7F3-023E-F943-8B9C-EE80FF0D7B13}"/>
              </a:ext>
            </a:extLst>
          </p:cNvPr>
          <p:cNvSpPr txBox="1"/>
          <p:nvPr/>
        </p:nvSpPr>
        <p:spPr>
          <a:xfrm>
            <a:off x="1821190" y="4873571"/>
            <a:ext cx="8822778" cy="140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我们比较了两个基线模型：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ConvNeXt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和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Swin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-Transformer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，在相同的实验配置以及相近的参数量情况下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ConvNeXt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的分割效果要优于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Swin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-Transformer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，因此我们选择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ConvNeXt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作为之后所有改进的基线模型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改进点介绍</a:t>
            </a:r>
            <a:endParaRPr sz="2800" dirty="0">
              <a:latin typeface="黑体" charset="0"/>
              <a:ea typeface="黑体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E22F0D-5B23-5B40-8889-D5ED1E213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456" y="843236"/>
            <a:ext cx="9627270" cy="4327855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95112ED3-CE8E-9C4C-800B-6D6C96F5092C}"/>
              </a:ext>
            </a:extLst>
          </p:cNvPr>
          <p:cNvSpPr txBox="1"/>
          <p:nvPr/>
        </p:nvSpPr>
        <p:spPr>
          <a:xfrm>
            <a:off x="1885183" y="5384800"/>
            <a:ext cx="8499816" cy="140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根据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Agriculture-Vision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数据集的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长尾、噪声严重、边界难以分割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等特点提出了混合损失、损失加权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fine-tune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、噪声数据增强、细化分割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OCR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模块和专家网络五个改进点</a:t>
            </a:r>
          </a:p>
        </p:txBody>
      </p:sp>
    </p:spTree>
    <p:extLst>
      <p:ext uri="{BB962C8B-B14F-4D97-AF65-F5344CB8AC3E}">
        <p14:creationId xmlns:p14="http://schemas.microsoft.com/office/powerpoint/2010/main" val="120276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混合损失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B774E7-0F81-644B-AC9E-1A0480CFE149}"/>
              </a:ext>
            </a:extLst>
          </p:cNvPr>
          <p:cNvSpPr txBox="1"/>
          <p:nvPr/>
        </p:nvSpPr>
        <p:spPr>
          <a:xfrm>
            <a:off x="5277381" y="1859194"/>
            <a:ext cx="65374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交叉熵损失：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不断地优化预测的数据分布和真实的数据分布之间的差异</a:t>
            </a:r>
          </a:p>
          <a:p>
            <a:endParaRPr kumimoji="1" lang="en-US" altLang="zh-CN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  <a:p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Lovasz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损失：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针对</a:t>
            </a:r>
            <a:r>
              <a:rPr lang="en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IoU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指标直接进行优化，语义分割中常用的损失函数</a:t>
            </a:r>
            <a:endParaRPr lang="en-US" altLang="zh-CN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  <a:p>
            <a:endParaRPr lang="en-US" altLang="zh-CN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  <a:p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混合损失：结合交叉熵损失和</a:t>
            </a:r>
            <a:r>
              <a:rPr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Lovasz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损失作为最终的损失函数</a:t>
            </a:r>
          </a:p>
          <a:p>
            <a:endParaRPr kumimoji="1" lang="zh-CN" altLang="en-US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1DB25B-0D8B-FC49-942D-B716A9A02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884159"/>
              </p:ext>
            </p:extLst>
          </p:nvPr>
        </p:nvGraphicFramePr>
        <p:xfrm>
          <a:off x="459828" y="1783583"/>
          <a:ext cx="4628367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881473730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470157932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8792209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损失函数替换为</a:t>
                      </a:r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交叉熵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+Lovasz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82652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48.81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95540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46.57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3525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86E4D15-58E5-1F46-A02C-E32533FA85BF}"/>
              </a:ext>
            </a:extLst>
          </p:cNvPr>
          <p:cNvSpPr txBox="1"/>
          <p:nvPr/>
        </p:nvSpPr>
        <p:spPr>
          <a:xfrm>
            <a:off x="5277381" y="1166649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改进方法：</a:t>
            </a:r>
          </a:p>
        </p:txBody>
      </p:sp>
    </p:spTree>
    <p:extLst>
      <p:ext uri="{BB962C8B-B14F-4D97-AF65-F5344CB8AC3E}">
        <p14:creationId xmlns:p14="http://schemas.microsoft.com/office/powerpoint/2010/main" val="238382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解码头增加</a:t>
            </a:r>
            <a:r>
              <a:rPr lang="en-US" altLang="zh-CN" sz="2800" dirty="0">
                <a:latin typeface="黑体" charset="0"/>
                <a:ea typeface="黑体" charset="0"/>
              </a:rPr>
              <a:t>OCR</a:t>
            </a:r>
            <a:r>
              <a:rPr lang="zh-CN" altLang="en-US" sz="2800" dirty="0">
                <a:latin typeface="黑体" charset="0"/>
                <a:ea typeface="黑体" charset="0"/>
              </a:rPr>
              <a:t>模块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A4BCAD-DAD3-3048-879F-54F080D12FF8}"/>
              </a:ext>
            </a:extLst>
          </p:cNvPr>
          <p:cNvSpPr txBox="1"/>
          <p:nvPr/>
        </p:nvSpPr>
        <p:spPr>
          <a:xfrm>
            <a:off x="1673772" y="5404696"/>
            <a:ext cx="9811408" cy="140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在语义分割任务中，上下文的信息对于像素级别的分类起着重要的作用，通过提取</a:t>
            </a:r>
            <a:r>
              <a:rPr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上下文信息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可以更好地利用空间信息进行像素级分类。</a:t>
            </a: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9FABC8-85E3-8B43-B368-A83E522D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72" y="629527"/>
            <a:ext cx="8647167" cy="45226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B66E1A8-F1ED-3C4D-989F-FD4B7E64D285}"/>
              </a:ext>
            </a:extLst>
          </p:cNvPr>
          <p:cNvSpPr txBox="1"/>
          <p:nvPr/>
        </p:nvSpPr>
        <p:spPr>
          <a:xfrm>
            <a:off x="2743200" y="5152189"/>
            <a:ext cx="199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Upernet</a:t>
            </a:r>
            <a:r>
              <a:rPr kumimoji="1" lang="zh-CN" altLang="en-US" dirty="0">
                <a:solidFill>
                  <a:srgbClr val="FF0000"/>
                </a:solidFill>
              </a:rPr>
              <a:t>解码器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E35545-0CA2-E94E-A670-5004BF08F1EA}"/>
              </a:ext>
            </a:extLst>
          </p:cNvPr>
          <p:cNvSpPr txBox="1"/>
          <p:nvPr/>
        </p:nvSpPr>
        <p:spPr>
          <a:xfrm>
            <a:off x="6579476" y="4782857"/>
            <a:ext cx="179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6"/>
                </a:solidFill>
              </a:rPr>
              <a:t>OCR</a:t>
            </a:r>
            <a:r>
              <a:rPr kumimoji="1" lang="zh-CN" altLang="en-US" dirty="0">
                <a:solidFill>
                  <a:schemeClr val="accent6"/>
                </a:solidFill>
              </a:rPr>
              <a:t>模块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83EB00-FA65-424D-9BB5-EFDE445613C5}"/>
              </a:ext>
            </a:extLst>
          </p:cNvPr>
          <p:cNvSpPr txBox="1"/>
          <p:nvPr/>
        </p:nvSpPr>
        <p:spPr>
          <a:xfrm>
            <a:off x="346841" y="5521521"/>
            <a:ext cx="1545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改进动机：</a:t>
            </a:r>
          </a:p>
        </p:txBody>
      </p:sp>
    </p:spTree>
    <p:extLst>
      <p:ext uri="{BB962C8B-B14F-4D97-AF65-F5344CB8AC3E}">
        <p14:creationId xmlns:p14="http://schemas.microsoft.com/office/powerpoint/2010/main" val="2879385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解码头增加</a:t>
            </a:r>
            <a:r>
              <a:rPr lang="en-US" altLang="zh-CN" sz="2800" dirty="0">
                <a:latin typeface="黑体" charset="0"/>
                <a:ea typeface="黑体" charset="0"/>
              </a:rPr>
              <a:t>OCR</a:t>
            </a:r>
            <a:r>
              <a:rPr lang="zh-CN" altLang="en-US" sz="2800" dirty="0">
                <a:latin typeface="黑体" charset="0"/>
                <a:ea typeface="黑体" charset="0"/>
              </a:rPr>
              <a:t>模块</a:t>
            </a:r>
            <a:endParaRPr sz="2800" dirty="0">
              <a:latin typeface="黑体" charset="0"/>
              <a:ea typeface="黑体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1DB25B-0D8B-FC49-942D-B716A9A02091}"/>
              </a:ext>
            </a:extLst>
          </p:cNvPr>
          <p:cNvGraphicFramePr>
            <a:graphicFrameLocks noGrp="1"/>
          </p:cNvGraphicFramePr>
          <p:nvPr/>
        </p:nvGraphicFramePr>
        <p:xfrm>
          <a:off x="459828" y="1783583"/>
          <a:ext cx="4628367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881473730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470157932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8792209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解码头增加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OCR</a:t>
                      </a:r>
                      <a:r>
                        <a:rPr lang="zh-CN" altLang="en-US" dirty="0"/>
                        <a:t>模块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82652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49.29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95540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47.57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3525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2A4BCAD-DAD3-3048-879F-54F080D12FF8}"/>
              </a:ext>
            </a:extLst>
          </p:cNvPr>
          <p:cNvSpPr txBox="1"/>
          <p:nvPr/>
        </p:nvSpPr>
        <p:spPr>
          <a:xfrm>
            <a:off x="5559972" y="3883194"/>
            <a:ext cx="5286704" cy="18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增加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OCR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模块之后，整体的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mIoU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指标稍有提升，对于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末行、排水沟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等少数类别的分割效果有一定的提升，效果体现在对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Upernet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的分割结果的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DA32FB-0F32-6242-ADA7-B0AFCA8E9C07}"/>
              </a:ext>
            </a:extLst>
          </p:cNvPr>
          <p:cNvSpPr txBox="1"/>
          <p:nvPr/>
        </p:nvSpPr>
        <p:spPr>
          <a:xfrm>
            <a:off x="5559972" y="3483084"/>
            <a:ext cx="1555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改进效果：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0FB6A6-D421-614D-83C6-5DD718F2B6CB}"/>
              </a:ext>
            </a:extLst>
          </p:cNvPr>
          <p:cNvSpPr txBox="1"/>
          <p:nvPr/>
        </p:nvSpPr>
        <p:spPr>
          <a:xfrm>
            <a:off x="5559972" y="1029637"/>
            <a:ext cx="1471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改进方法：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D28CFE-16A3-934F-9C84-F64CCD76FBEE}"/>
              </a:ext>
            </a:extLst>
          </p:cNvPr>
          <p:cNvSpPr txBox="1"/>
          <p:nvPr/>
        </p:nvSpPr>
        <p:spPr>
          <a:xfrm>
            <a:off x="5559972" y="1719330"/>
            <a:ext cx="5160579" cy="96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通过在</a:t>
            </a:r>
            <a:r>
              <a:rPr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Upernet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解码器之后增加</a:t>
            </a:r>
            <a:r>
              <a:rPr lang="en-US" altLang="zh-CN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OCR</a:t>
            </a:r>
            <a:r>
              <a:rPr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模块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对</a:t>
            </a:r>
            <a:r>
              <a:rPr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Upernet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生成的分割结果进行进一步细化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4700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噪声数据增强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B774E7-0F81-644B-AC9E-1A0480CFE149}"/>
              </a:ext>
            </a:extLst>
          </p:cNvPr>
          <p:cNvSpPr txBox="1"/>
          <p:nvPr/>
        </p:nvSpPr>
        <p:spPr>
          <a:xfrm>
            <a:off x="5277381" y="1859194"/>
            <a:ext cx="6537435" cy="2328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在遥感图像的成像和传输过程中，非常容易受到干扰的光电信号影响，从而产生图像噪声。遥感领域的相关研究表明，遥感图像在经过去噪处理后，所剩的噪声可以近似为</a:t>
            </a:r>
            <a:r>
              <a:rPr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椒盐噪声和高斯噪声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的叠加。</a:t>
            </a:r>
          </a:p>
          <a:p>
            <a:pPr>
              <a:lnSpc>
                <a:spcPct val="150000"/>
              </a:lnSpc>
            </a:pPr>
            <a:endParaRPr kumimoji="1" lang="zh-CN" altLang="en-US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1DB25B-0D8B-FC49-942D-B716A9A02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079186"/>
              </p:ext>
            </p:extLst>
          </p:nvPr>
        </p:nvGraphicFramePr>
        <p:xfrm>
          <a:off x="459828" y="1783583"/>
          <a:ext cx="4628367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881473730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470157932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8792209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数据增强部分增加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高斯椒盐噪声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82652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49.02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95540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47.41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3525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24CE32D-2220-EF4F-B484-0B6260DECB0A}"/>
              </a:ext>
            </a:extLst>
          </p:cNvPr>
          <p:cNvSpPr txBox="1"/>
          <p:nvPr/>
        </p:nvSpPr>
        <p:spPr>
          <a:xfrm>
            <a:off x="5277381" y="1303282"/>
            <a:ext cx="1743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改进动机：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D4AC0C-2A2A-9342-82A3-0BD38D2333BA}"/>
              </a:ext>
            </a:extLst>
          </p:cNvPr>
          <p:cNvSpPr txBox="1"/>
          <p:nvPr/>
        </p:nvSpPr>
        <p:spPr>
          <a:xfrm>
            <a:off x="5277381" y="4191931"/>
            <a:ext cx="1965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改进方法和效果：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768FD3-0DAC-414D-89AC-B03B7CFB8D3F}"/>
              </a:ext>
            </a:extLst>
          </p:cNvPr>
          <p:cNvSpPr txBox="1"/>
          <p:nvPr/>
        </p:nvSpPr>
        <p:spPr>
          <a:xfrm>
            <a:off x="5277381" y="4803228"/>
            <a:ext cx="6423009" cy="1425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这里提出在数据增强部分增加高斯椒盐噪声，不过通过实验显示增加噪声对整体</a:t>
            </a:r>
            <a:r>
              <a:rPr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mIoU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的贡献不是很大，对少数类的分割效果有稍微提升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6058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损失加权</a:t>
            </a:r>
            <a:r>
              <a:rPr lang="en-US" altLang="zh-CN" sz="2800" dirty="0">
                <a:latin typeface="黑体" charset="0"/>
                <a:ea typeface="黑体" charset="0"/>
              </a:rPr>
              <a:t>fine-tune</a:t>
            </a:r>
            <a:endParaRPr sz="2800" dirty="0">
              <a:latin typeface="黑体" charset="0"/>
              <a:ea typeface="黑体" charset="0"/>
            </a:endParaRPr>
          </a:p>
        </p:txBody>
      </p:sp>
      <p:pic>
        <p:nvPicPr>
          <p:cNvPr id="5" name="图片 7">
            <a:extLst>
              <a:ext uri="{FF2B5EF4-FFF2-40B4-BE49-F238E27FC236}">
                <a16:creationId xmlns:a16="http://schemas.microsoft.com/office/drawing/2014/main" id="{8E92B924-728C-BA47-8878-CAB1DB141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5" t="11235" r="6392" b="17287"/>
          <a:stretch>
            <a:fillRect/>
          </a:stretch>
        </p:blipFill>
        <p:spPr bwMode="auto">
          <a:xfrm>
            <a:off x="683829" y="1623027"/>
            <a:ext cx="5729288" cy="245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7">
            <a:extLst>
              <a:ext uri="{FF2B5EF4-FFF2-40B4-BE49-F238E27FC236}">
                <a16:creationId xmlns:a16="http://schemas.microsoft.com/office/drawing/2014/main" id="{967D00DD-D0D9-4641-92C9-8D123CD6E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992" y="4229702"/>
            <a:ext cx="4032250" cy="943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Agriculture-Vision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数据集训练集标签数量分布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ADE8EA-244D-9343-8CA9-C503669DD05A}"/>
              </a:ext>
            </a:extLst>
          </p:cNvPr>
          <p:cNvSpPr txBox="1"/>
          <p:nvPr/>
        </p:nvSpPr>
        <p:spPr>
          <a:xfrm>
            <a:off x="7083972" y="1422972"/>
            <a:ext cx="2154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改进动机：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90FCA5-E444-EC4B-87B1-5F549B9A0225}"/>
              </a:ext>
            </a:extLst>
          </p:cNvPr>
          <p:cNvSpPr txBox="1"/>
          <p:nvPr/>
        </p:nvSpPr>
        <p:spPr>
          <a:xfrm>
            <a:off x="7083972" y="2062312"/>
            <a:ext cx="4004441" cy="18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Agriculture-Vision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数据集存在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长尾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的特点，不同类别之间的数据量差异很大，对于少数类别的分割效果比较差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991249-521A-6541-BCB7-E5A041DACD5D}"/>
              </a:ext>
            </a:extLst>
          </p:cNvPr>
          <p:cNvSpPr txBox="1"/>
          <p:nvPr/>
        </p:nvSpPr>
        <p:spPr>
          <a:xfrm>
            <a:off x="7083972" y="4213493"/>
            <a:ext cx="1408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改进方法：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844F73-1934-C04C-B5FC-B970E921D91A}"/>
              </a:ext>
            </a:extLst>
          </p:cNvPr>
          <p:cNvSpPr txBox="1"/>
          <p:nvPr/>
        </p:nvSpPr>
        <p:spPr>
          <a:xfrm>
            <a:off x="7083972" y="4798740"/>
            <a:ext cx="4025462" cy="140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对损失基于</a:t>
            </a:r>
            <a:r>
              <a:rPr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中频平衡策略</a:t>
            </a:r>
            <a:r>
              <a:rPr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进行类别加权，最终的类别权重和类别频度成负相关</a:t>
            </a:r>
            <a:endParaRPr kumimoji="1" lang="zh-CN" altLang="en-US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048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损失加权</a:t>
            </a:r>
            <a:r>
              <a:rPr lang="en-US" altLang="zh-CN" sz="2800" dirty="0">
                <a:latin typeface="黑体" charset="0"/>
                <a:ea typeface="黑体" charset="0"/>
              </a:rPr>
              <a:t>fine-tune</a:t>
            </a:r>
            <a:endParaRPr sz="2800" dirty="0">
              <a:latin typeface="黑体" charset="0"/>
              <a:ea typeface="黑体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D1DB25B-0D8B-FC49-942D-B716A9A02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44375"/>
              </p:ext>
            </p:extLst>
          </p:nvPr>
        </p:nvGraphicFramePr>
        <p:xfrm>
          <a:off x="1216573" y="1867666"/>
          <a:ext cx="4628367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881473730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470157932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8792209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类别加权</a:t>
                      </a:r>
                      <a:r>
                        <a:rPr lang="en-US" altLang="zh-CN" dirty="0"/>
                        <a:t>fine-tune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82652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50.65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95540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48.53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3525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A87DC1AC-C255-7649-99DD-C58F1B15F9C3}"/>
              </a:ext>
            </a:extLst>
          </p:cNvPr>
          <p:cNvSpPr txBox="1"/>
          <p:nvPr/>
        </p:nvSpPr>
        <p:spPr>
          <a:xfrm>
            <a:off x="6568966" y="1867666"/>
            <a:ext cx="1345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改进效果：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B24978-462A-554E-B8AD-04577FCE38D0}"/>
              </a:ext>
            </a:extLst>
          </p:cNvPr>
          <p:cNvSpPr txBox="1"/>
          <p:nvPr/>
        </p:nvSpPr>
        <p:spPr>
          <a:xfrm>
            <a:off x="6568966" y="2488499"/>
            <a:ext cx="4382813" cy="18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在进行类别损失加权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fine-tune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后，整体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mIoU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平均提升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两个点以上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，多个类别的</a:t>
            </a:r>
            <a:r>
              <a:rPr kumimoji="1" lang="en-US" altLang="zh-CN" sz="2000" dirty="0" err="1">
                <a:latin typeface="Heiti SC Light" panose="02000000000000000000" pitchFamily="2" charset="-128"/>
                <a:ea typeface="Heiti SC Light" panose="02000000000000000000" pitchFamily="2" charset="-128"/>
              </a:rPr>
              <a:t>IoU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均有较大提升，分割效果提升显著</a:t>
            </a:r>
          </a:p>
        </p:txBody>
      </p:sp>
    </p:spTree>
    <p:extLst>
      <p:ext uri="{BB962C8B-B14F-4D97-AF65-F5344CB8AC3E}">
        <p14:creationId xmlns:p14="http://schemas.microsoft.com/office/powerpoint/2010/main" val="677055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专家网络</a:t>
            </a:r>
            <a:endParaRPr sz="2800" dirty="0">
              <a:latin typeface="黑体" charset="0"/>
              <a:ea typeface="黑体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CE09E6-C011-0443-AD6F-E08AD3D06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25" y="629527"/>
            <a:ext cx="8585200" cy="5346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368CE9-F910-FF43-A44F-143E01BCE523}"/>
              </a:ext>
            </a:extLst>
          </p:cNvPr>
          <p:cNvSpPr txBox="1"/>
          <p:nvPr/>
        </p:nvSpPr>
        <p:spPr>
          <a:xfrm>
            <a:off x="9038897" y="704193"/>
            <a:ext cx="1713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改进动机：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66A942-B054-974C-B9E6-FB900C524CFB}"/>
              </a:ext>
            </a:extLst>
          </p:cNvPr>
          <p:cNvSpPr txBox="1"/>
          <p:nvPr/>
        </p:nvSpPr>
        <p:spPr>
          <a:xfrm>
            <a:off x="9038897" y="1271752"/>
            <a:ext cx="2469931" cy="18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少数类别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的分割效果很差，考虑增加一个网络分支单独训练少数类别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FE976BA-88AD-CA48-954D-F32E5A67E4F3}"/>
              </a:ext>
            </a:extLst>
          </p:cNvPr>
          <p:cNvSpPr txBox="1"/>
          <p:nvPr/>
        </p:nvSpPr>
        <p:spPr>
          <a:xfrm>
            <a:off x="9038897" y="3436884"/>
            <a:ext cx="1923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改进方法：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E46208-D0C8-094C-8ED5-67C9DA6DBBB1}"/>
              </a:ext>
            </a:extLst>
          </p:cNvPr>
          <p:cNvSpPr txBox="1"/>
          <p:nvPr/>
        </p:nvSpPr>
        <p:spPr>
          <a:xfrm>
            <a:off x="9038897" y="4004153"/>
            <a:ext cx="2932386" cy="2328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单独训练一个骨干网络是</a:t>
            </a:r>
            <a:r>
              <a:rPr kumimoji="1" lang="en-US" altLang="zh-CN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HRnet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，解码头为</a:t>
            </a:r>
            <a:r>
              <a:rPr kumimoji="1" lang="en-US" altLang="zh-CN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FCN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的小网络用来分割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末行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和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播种机遗漏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两个类别</a:t>
            </a:r>
          </a:p>
        </p:txBody>
      </p:sp>
    </p:spTree>
    <p:extLst>
      <p:ext uri="{BB962C8B-B14F-4D97-AF65-F5344CB8AC3E}">
        <p14:creationId xmlns:p14="http://schemas.microsoft.com/office/powerpoint/2010/main" val="1493409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专家网络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368CE9-F910-FF43-A44F-143E01BCE523}"/>
              </a:ext>
            </a:extLst>
          </p:cNvPr>
          <p:cNvSpPr txBox="1"/>
          <p:nvPr/>
        </p:nvSpPr>
        <p:spPr>
          <a:xfrm>
            <a:off x="7399282" y="2004301"/>
            <a:ext cx="1713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改进效果：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66A942-B054-974C-B9E6-FB900C524CFB}"/>
              </a:ext>
            </a:extLst>
          </p:cNvPr>
          <p:cNvSpPr txBox="1"/>
          <p:nvPr/>
        </p:nvSpPr>
        <p:spPr>
          <a:xfrm>
            <a:off x="7399282" y="2571860"/>
            <a:ext cx="3615559" cy="18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增加专家网络单独训练两个类别之后在验证集上的</a:t>
            </a:r>
            <a:r>
              <a:rPr kumimoji="1" lang="en-US" altLang="zh-CN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mIoU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指标可以提升</a:t>
            </a:r>
            <a:r>
              <a:rPr kumimoji="1" lang="zh-CN" altLang="en-US" sz="20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将近一个点</a:t>
            </a:r>
            <a:r>
              <a:rPr kumimoji="1" lang="zh-CN" altLang="en-US" sz="20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，但是在测试集上没有多少提升效果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B53A4AB-D93E-0C4D-92EC-79D7C5C459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580410"/>
              </p:ext>
            </p:extLst>
          </p:nvPr>
        </p:nvGraphicFramePr>
        <p:xfrm>
          <a:off x="1216573" y="1867666"/>
          <a:ext cx="4628367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881473730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470157932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8792209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增加小网络单独训练少数类别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82652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51.17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695540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48.47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53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928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改进点和效果</a:t>
            </a:r>
            <a:endParaRPr sz="2800" dirty="0">
              <a:latin typeface="黑体" charset="0"/>
              <a:ea typeface="黑体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E629D44-D9E3-FA44-9554-0FFD9DF42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972712"/>
              </p:ext>
            </p:extLst>
          </p:nvPr>
        </p:nvGraphicFramePr>
        <p:xfrm>
          <a:off x="730320" y="1812743"/>
          <a:ext cx="10799523" cy="2937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789">
                  <a:extLst>
                    <a:ext uri="{9D8B030D-6E8A-4147-A177-3AD203B41FA5}">
                      <a16:colId xmlns:a16="http://schemas.microsoft.com/office/drawing/2014/main" val="112504398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54792446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386953354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4197950201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515572545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2635916077"/>
                    </a:ext>
                  </a:extLst>
                </a:gridCol>
                <a:gridCol w="1542789">
                  <a:extLst>
                    <a:ext uri="{9D8B030D-6E8A-4147-A177-3AD203B41FA5}">
                      <a16:colId xmlns:a16="http://schemas.microsoft.com/office/drawing/2014/main" val="3812301583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baseline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损失函数替换为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交叉熵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+Lovasz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解码头增加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OCR</a:t>
                      </a:r>
                      <a:r>
                        <a:rPr lang="zh-CN" altLang="en-US" dirty="0"/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数据增强部分增加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高斯椒盐噪声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类别加权</a:t>
                      </a:r>
                      <a:r>
                        <a:rPr lang="en-US" altLang="zh-CN" dirty="0"/>
                        <a:t>fine-tune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增加小网络单独训练少数类别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150628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验证集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45.72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48.81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49.29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49.02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50.65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51.17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607663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测试集</a:t>
                      </a:r>
                      <a:r>
                        <a:rPr lang="en-US" altLang="zh-CN" dirty="0"/>
                        <a:t>mIoU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44.10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46.57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47.57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47.41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48.53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48.47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72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946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标题 7"/>
          <p:cNvSpPr txBox="1">
            <a:spLocks noGrp="1"/>
          </p:cNvSpPr>
          <p:nvPr>
            <p:ph type="title"/>
          </p:nvPr>
        </p:nvSpPr>
        <p:spPr>
          <a:xfrm>
            <a:off x="957825" y="232050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sz="2800" dirty="0" err="1">
                <a:latin typeface="黑体" charset="0"/>
                <a:ea typeface="黑体" charset="0"/>
              </a:rPr>
              <a:t>经验总结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309" name="文本框 2"/>
          <p:cNvSpPr txBox="1"/>
          <p:nvPr/>
        </p:nvSpPr>
        <p:spPr>
          <a:xfrm>
            <a:off x="1482825" y="774908"/>
            <a:ext cx="9826305" cy="556017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网络初始预训练权重一般只包含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RGB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三个通道，针对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NIR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通道的初始权重，一般用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Red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通道来代替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对训练集太大的情况，在初期可以在训练集的子集上实验，验证方案有效性；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在本次比赛数据集中发现，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Swin-Transformer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的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baseline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效果远差于同等参数量的</a:t>
            </a:r>
            <a:r>
              <a:rPr lang="en-US" altLang="zh-CN" sz="2000" dirty="0" err="1">
                <a:latin typeface="黑体" charset="0"/>
                <a:ea typeface="黑体" charset="0"/>
                <a:cs typeface="黑体" charset="0"/>
                <a:sym typeface="Helvetica"/>
              </a:rPr>
              <a:t>convnext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，主要表现在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Swin-Transformer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过拟合严重。而且遥感农业分割“纹理”相对于“形状”更加重要，相比而言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卷积网络更重视纹理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域迁移是个很好的数据增强方法，尤其是在训练集图像风格差异大的情况；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针对图像噪声严重的问题，随机噪声数据增强可以提升模型效果；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交叉熵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+Lovasz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是有用的损失函数，常用的比例为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1:0.4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损失类别加权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是个很有效的策略，尤其是用在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finetune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阶段；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全局上下文编码模块针对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标注种类稀疏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的数据很有效，但是会大幅增加显存占用；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 marL="457200" indent="-457200">
              <a:lnSpc>
                <a:spcPct val="150000"/>
              </a:lnSpc>
              <a:buSzPct val="100000"/>
              <a:buAutoNum type="arabicParenR"/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对生成的分割结果进行进一步的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细化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或者一些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后处理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操作可以提升最终的分割结果。</a:t>
            </a:r>
          </a:p>
        </p:txBody>
      </p:sp>
    </p:spTree>
    <p:extLst>
      <p:ext uri="{BB962C8B-B14F-4D97-AF65-F5344CB8AC3E}">
        <p14:creationId xmlns:p14="http://schemas.microsoft.com/office/powerpoint/2010/main" val="585005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2044" y="1671158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3200" dirty="0">
                <a:latin typeface="黑体" charset="0"/>
                <a:ea typeface="黑体" charset="0"/>
              </a:rPr>
              <a:t>本次比赛去年情况介绍</a:t>
            </a:r>
            <a:endParaRPr sz="3200" dirty="0">
              <a:latin typeface="黑体" charset="0"/>
              <a:ea typeface="黑体" charset="0"/>
            </a:endParaRPr>
          </a:p>
        </p:txBody>
      </p:sp>
      <p:sp>
        <p:nvSpPr>
          <p:cNvPr id="6" name="标题 7">
            <a:extLst>
              <a:ext uri="{FF2B5EF4-FFF2-40B4-BE49-F238E27FC236}">
                <a16:creationId xmlns:a16="http://schemas.microsoft.com/office/drawing/2014/main" id="{1FC93E9F-1338-A84A-987A-64081DC0F072}"/>
              </a:ext>
            </a:extLst>
          </p:cNvPr>
          <p:cNvSpPr txBox="1">
            <a:spLocks/>
          </p:cNvSpPr>
          <p:nvPr/>
        </p:nvSpPr>
        <p:spPr>
          <a:xfrm>
            <a:off x="2310775" y="2454178"/>
            <a:ext cx="7684563" cy="38204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5849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0" kern="1200">
                <a:solidFill>
                  <a:srgbClr val="203864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参赛和获奖情况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地块识别赛道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作物识别赛道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dirty="0">
                <a:latin typeface="黑体" charset="0"/>
                <a:ea typeface="黑体" charset="0"/>
              </a:rPr>
              <a:t>产量预测赛道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en-US" altLang="zh-CN" sz="2400" dirty="0">
              <a:latin typeface="黑体" charset="0"/>
              <a:ea typeface="黑体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l"/>
            </a:pP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09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E6AC9A9-E6ED-4346-B868-4773AC01AE6C}"/>
              </a:ext>
            </a:extLst>
          </p:cNvPr>
          <p:cNvSpPr txBox="1"/>
          <p:nvPr/>
        </p:nvSpPr>
        <p:spPr>
          <a:xfrm>
            <a:off x="1587062" y="1715107"/>
            <a:ext cx="701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charset="0"/>
                <a:ea typeface="黑体" charset="0"/>
              </a:rPr>
              <a:t>初赛共有</a:t>
            </a:r>
            <a:r>
              <a:rPr lang="en-US" altLang="zh-CN" sz="2000" dirty="0">
                <a:latin typeface="黑体" charset="0"/>
                <a:ea typeface="黑体" charset="0"/>
              </a:rPr>
              <a:t>135</a:t>
            </a:r>
            <a:r>
              <a:rPr lang="zh-CN" altLang="en-US" sz="2000" dirty="0">
                <a:latin typeface="黑体" charset="0"/>
                <a:ea typeface="黑体" charset="0"/>
              </a:rPr>
              <a:t>支队伍，</a:t>
            </a:r>
            <a:r>
              <a:rPr lang="en-US" altLang="zh-CN" sz="2000" dirty="0">
                <a:latin typeface="黑体" charset="0"/>
                <a:ea typeface="黑体" charset="0"/>
              </a:rPr>
              <a:t>71</a:t>
            </a:r>
            <a:r>
              <a:rPr lang="zh-CN" altLang="en-US" sz="2000" dirty="0">
                <a:latin typeface="黑体" charset="0"/>
                <a:ea typeface="黑体" charset="0"/>
              </a:rPr>
              <a:t>支队伍提交作品，</a:t>
            </a:r>
            <a:r>
              <a:rPr lang="en-US" altLang="zh-CN" sz="2000" dirty="0">
                <a:latin typeface="黑体" charset="0"/>
                <a:ea typeface="黑体" charset="0"/>
              </a:rPr>
              <a:t>40</a:t>
            </a:r>
            <a:r>
              <a:rPr lang="zh-CN" altLang="en-US" sz="2000" dirty="0">
                <a:latin typeface="黑体" charset="0"/>
                <a:ea typeface="黑体" charset="0"/>
              </a:rPr>
              <a:t>支队伍入围决赛</a:t>
            </a:r>
          </a:p>
          <a:p>
            <a:endParaRPr kumimoji="1" lang="zh-CN" altLang="en-US" sz="2000" dirty="0">
              <a:latin typeface="Heiti SC Light" panose="02000000000000000000" pitchFamily="2" charset="-128"/>
              <a:ea typeface="Heiti SC Light" panose="02000000000000000000" pitchFamily="2" charset="-128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ED64D4-D40F-6041-A6DB-37FE9537C4C0}"/>
              </a:ext>
            </a:extLst>
          </p:cNvPr>
          <p:cNvSpPr txBox="1"/>
          <p:nvPr/>
        </p:nvSpPr>
        <p:spPr>
          <a:xfrm>
            <a:off x="1587062" y="2648607"/>
            <a:ext cx="5938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charset="0"/>
                <a:ea typeface="黑体" charset="0"/>
              </a:rPr>
              <a:t>三大项目各设一等奖</a:t>
            </a:r>
            <a:r>
              <a:rPr lang="en-US" altLang="zh-CN" sz="2000" dirty="0">
                <a:latin typeface="黑体" charset="0"/>
                <a:ea typeface="黑体" charset="0"/>
              </a:rPr>
              <a:t>1</a:t>
            </a:r>
            <a:r>
              <a:rPr lang="zh-CN" altLang="en-US" sz="2000" dirty="0">
                <a:latin typeface="黑体" charset="0"/>
                <a:ea typeface="黑体" charset="0"/>
              </a:rPr>
              <a:t>名、二等奖</a:t>
            </a:r>
            <a:r>
              <a:rPr lang="en-US" altLang="zh-CN" sz="2000" dirty="0">
                <a:latin typeface="黑体" charset="0"/>
                <a:ea typeface="黑体" charset="0"/>
              </a:rPr>
              <a:t>1</a:t>
            </a:r>
            <a:r>
              <a:rPr lang="zh-CN" altLang="en-US" sz="2000" dirty="0">
                <a:latin typeface="黑体" charset="0"/>
                <a:ea typeface="黑体" charset="0"/>
              </a:rPr>
              <a:t>名、三等奖</a:t>
            </a:r>
            <a:r>
              <a:rPr lang="en-US" altLang="zh-CN" sz="2000" dirty="0">
                <a:latin typeface="黑体" charset="0"/>
                <a:ea typeface="黑体" charset="0"/>
              </a:rPr>
              <a:t>2</a:t>
            </a:r>
            <a:r>
              <a:rPr lang="zh-CN" altLang="en-US" sz="2000" dirty="0">
                <a:latin typeface="黑体" charset="0"/>
                <a:ea typeface="黑体" charset="0"/>
              </a:rPr>
              <a:t>名</a:t>
            </a:r>
            <a:endParaRPr kumimoji="1"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37D08F-4B60-3747-916C-76022CC455F6}"/>
              </a:ext>
            </a:extLst>
          </p:cNvPr>
          <p:cNvSpPr txBox="1"/>
          <p:nvPr/>
        </p:nvSpPr>
        <p:spPr>
          <a:xfrm>
            <a:off x="1587062" y="3499945"/>
            <a:ext cx="687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黑体" charset="0"/>
                <a:ea typeface="黑体" charset="0"/>
              </a:rPr>
              <a:t>共有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</a:rPr>
              <a:t>地块识别、作物识别，产量估测</a:t>
            </a:r>
            <a:r>
              <a:rPr lang="zh-CN" altLang="en-US" sz="2000" dirty="0">
                <a:latin typeface="黑体" charset="0"/>
                <a:ea typeface="黑体" charset="0"/>
              </a:rPr>
              <a:t>三个赛道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0A1493E2-4E9E-0747-A513-3778E304D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7135" y="262771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参赛和获奖情况</a:t>
            </a:r>
            <a:endParaRPr sz="28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20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7135" y="262771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地块识别赛道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8EAE02D9-6BC1-C1FA-5B6F-380E1F6966C0}"/>
              </a:ext>
            </a:extLst>
          </p:cNvPr>
          <p:cNvSpPr txBox="1"/>
          <p:nvPr/>
        </p:nvSpPr>
        <p:spPr>
          <a:xfrm>
            <a:off x="999937" y="877778"/>
            <a:ext cx="8660674" cy="48186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赛道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地块识别、作物识别，产量估测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1DC6E758-AF73-3F78-DB1B-A07401ED5E29}"/>
              </a:ext>
            </a:extLst>
          </p:cNvPr>
          <p:cNvSpPr txBox="1"/>
          <p:nvPr/>
        </p:nvSpPr>
        <p:spPr>
          <a:xfrm>
            <a:off x="999936" y="1815720"/>
            <a:ext cx="10204091" cy="279018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地块识别：任务是根据自然边界（定义为两块相邻农田间的行垄宽度大于等于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2m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）对农田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    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  地块进行提取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初赛提供安徽阜南县指定区域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高分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号全色和多光谱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数据，是否提供标注数据没有说明。要求识别出正确的地块，验证方式是抽样区域以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F1-Score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为评价指标进行验证。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决赛提供浙江省瑞安市指定区域遥感数据，要求下载数据后三小时内提取地块边界。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允许自行搜寻其他数据源。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58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584" y="248812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作物识别赛道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8EAE02D9-6BC1-C1FA-5B6F-380E1F6966C0}"/>
              </a:ext>
            </a:extLst>
          </p:cNvPr>
          <p:cNvSpPr txBox="1"/>
          <p:nvPr/>
        </p:nvSpPr>
        <p:spPr>
          <a:xfrm>
            <a:off x="999937" y="877778"/>
            <a:ext cx="8660674" cy="48186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赛道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地块识别、作物识别，产量估测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1DC6E758-AF73-3F78-DB1B-A07401ED5E29}"/>
              </a:ext>
            </a:extLst>
          </p:cNvPr>
          <p:cNvSpPr txBox="1"/>
          <p:nvPr/>
        </p:nvSpPr>
        <p:spPr>
          <a:xfrm>
            <a:off x="999937" y="1815720"/>
            <a:ext cx="10372256" cy="279018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作物识别：任务是识别指定区域内作物分布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初赛提供辽宁指定区域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哨兵遥感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数据，是否提供标注数据没有说明，分类作物为水稻、玉米、大豆和花生。要求提取出指定区域内作物分布，验证方式是随机抽样验证点以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总体精度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kappa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系数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作为评价指标。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决赛提供湖北省指定区域遥感数据，分类作物为小麦、油菜、水稻和柑橘。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允许自行搜寻其他数据源。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222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584" y="248812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产量预测赛道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8EAE02D9-6BC1-C1FA-5B6F-380E1F6966C0}"/>
              </a:ext>
            </a:extLst>
          </p:cNvPr>
          <p:cNvSpPr txBox="1"/>
          <p:nvPr/>
        </p:nvSpPr>
        <p:spPr>
          <a:xfrm>
            <a:off x="999937" y="877778"/>
            <a:ext cx="8660674" cy="48186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赛道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地块识别、作物识别，产量预测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1DC6E758-AF73-3F78-DB1B-A07401ED5E29}"/>
              </a:ext>
            </a:extLst>
          </p:cNvPr>
          <p:cNvSpPr txBox="1"/>
          <p:nvPr/>
        </p:nvSpPr>
        <p:spPr>
          <a:xfrm>
            <a:off x="999936" y="1815720"/>
            <a:ext cx="10162049" cy="2328523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产量预测：以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哨兵数据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为基础影像，进行农作物估产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初赛在陕西、辽宁、甘肃、湖北四个指定区域中至少选择一个指定目标作物进行产量预测。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决赛选择湖北水稻、山东小麦、陕西苹果和湖北脐橙中一个区域进行产量预测。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初赛决赛均提供</a:t>
            </a:r>
            <a:r>
              <a:rPr lang="zh-CN" altLang="en-US" sz="2000" dirty="0">
                <a:solidFill>
                  <a:srgbClr val="FF0000"/>
                </a:solidFill>
                <a:latin typeface="黑体" charset="0"/>
                <a:ea typeface="黑体" charset="0"/>
                <a:cs typeface="黑体" charset="0"/>
                <a:sym typeface="Helvetica"/>
              </a:rPr>
              <a:t>哨兵遥感数据和部分产量数据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。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允许自行搜寻其他数据源。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1252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948" y="2469944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3200" dirty="0">
                <a:latin typeface="黑体" charset="0"/>
                <a:ea typeface="黑体" charset="0"/>
              </a:rPr>
              <a:t>本次比赛今年情况介绍</a:t>
            </a:r>
            <a:endParaRPr sz="32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90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7">
            <a:extLst>
              <a:ext uri="{FF2B5EF4-FFF2-40B4-BE49-F238E27FC236}">
                <a16:creationId xmlns:a16="http://schemas.microsoft.com/office/drawing/2014/main" id="{9DBCEC8D-CE21-42FE-2E3B-AB1D6B050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584" y="248812"/>
            <a:ext cx="7886700" cy="397477"/>
          </a:xfrm>
          <a:prstGeom prst="rect">
            <a:avLst/>
          </a:prstGeom>
        </p:spPr>
        <p:txBody>
          <a:bodyPr>
            <a:noAutofit/>
          </a:bodyPr>
          <a:lstStyle>
            <a:lvl1pPr defTabSz="658495">
              <a:defRPr sz="1730">
                <a:solidFill>
                  <a:srgbClr val="203864"/>
                </a:solidFill>
              </a:defRPr>
            </a:lvl1pPr>
          </a:lstStyle>
          <a:p>
            <a:r>
              <a:rPr lang="zh-CN" altLang="en-US" sz="2800" dirty="0">
                <a:latin typeface="黑体" charset="0"/>
                <a:ea typeface="黑体" charset="0"/>
              </a:rPr>
              <a:t>本次比赛今年情况介绍</a:t>
            </a:r>
            <a:endParaRPr sz="2800" dirty="0">
              <a:latin typeface="黑体" charset="0"/>
              <a:ea typeface="黑体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8EAE02D9-6BC1-C1FA-5B6F-380E1F6966C0}"/>
              </a:ext>
            </a:extLst>
          </p:cNvPr>
          <p:cNvSpPr txBox="1"/>
          <p:nvPr/>
        </p:nvSpPr>
        <p:spPr>
          <a:xfrm>
            <a:off x="999937" y="877778"/>
            <a:ext cx="8660674" cy="48186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赛道</a:t>
            </a:r>
            <a:r>
              <a:rPr sz="2000" dirty="0">
                <a:latin typeface="黑体" charset="0"/>
                <a:ea typeface="黑体" charset="0"/>
                <a:cs typeface="黑体" charset="0"/>
              </a:rPr>
              <a:t>: 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地块识别、作物识别、墒情预测、产量品质预测</a:t>
            </a:r>
            <a:endParaRPr sz="200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01F8C9BB-8B03-3ADA-60F9-4D3A3EC1FE59}"/>
              </a:ext>
            </a:extLst>
          </p:cNvPr>
          <p:cNvSpPr txBox="1"/>
          <p:nvPr/>
        </p:nvSpPr>
        <p:spPr>
          <a:xfrm>
            <a:off x="999936" y="1719467"/>
            <a:ext cx="9531429" cy="371351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地块识别：   利用遥感数据提取两块相邻农田间行陇宽度大于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1m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的自然边界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      数据是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  <a:sym typeface="Helvetica"/>
              </a:rPr>
              <a:t>1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米高分遥感影像</a:t>
            </a:r>
            <a:endParaRPr lang="en-US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  <a:sym typeface="Helvetica"/>
              </a:rPr>
              <a:t>作物识别：   利用遥感数据识别指定区域内作物分布</a:t>
            </a:r>
            <a:endParaRPr lang="en-US" altLang="zh-CN" sz="2000" dirty="0">
              <a:latin typeface="黑体" charset="0"/>
              <a:ea typeface="黑体" charset="0"/>
              <a:cs typeface="黑体" charset="0"/>
              <a:sym typeface="Helvetica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  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      数据是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10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米遥感影像</a:t>
            </a:r>
            <a:endParaRPr lang="en-US" sz="2000" dirty="0"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墒情预测：   利用土壤属性、作物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/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灌溉信息、历史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/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实时气象数据预测土壤含水量</a:t>
            </a:r>
            <a:endParaRPr lang="en-US" altLang="zh-CN" sz="2000" dirty="0"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  <a:defRPr sz="2000"/>
            </a:pPr>
            <a:r>
              <a:rPr lang="en-US" sz="2000" dirty="0">
                <a:latin typeface="黑体" charset="0"/>
                <a:ea typeface="黑体" charset="0"/>
                <a:cs typeface="黑体" charset="0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   </a:t>
            </a:r>
            <a:endParaRPr lang="en-US" sz="2000" dirty="0"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产量品质预测：对指定地块进行基于地块尺度的产量和不同物候期的品质预测</a:t>
            </a:r>
            <a:endParaRPr lang="en-US" altLang="zh-CN" sz="2000" dirty="0">
              <a:latin typeface="黑体" charset="0"/>
              <a:ea typeface="黑体" charset="0"/>
              <a:cs typeface="黑体" charset="0"/>
            </a:endParaRPr>
          </a:p>
          <a:p>
            <a:pPr>
              <a:lnSpc>
                <a:spcPct val="150000"/>
              </a:lnSpc>
              <a:defRPr sz="2000"/>
            </a:pP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    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	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       数据是</a:t>
            </a:r>
            <a:r>
              <a:rPr lang="en-US" altLang="zh-CN" sz="2000" dirty="0">
                <a:latin typeface="黑体" charset="0"/>
                <a:ea typeface="黑体" charset="0"/>
                <a:cs typeface="黑体" charset="0"/>
              </a:rPr>
              <a:t>10</a:t>
            </a:r>
            <a:r>
              <a:rPr lang="zh-CN" altLang="en-US" sz="2000" dirty="0">
                <a:latin typeface="黑体" charset="0"/>
                <a:ea typeface="黑体" charset="0"/>
                <a:cs typeface="黑体" charset="0"/>
              </a:rPr>
              <a:t>米遥感影像和基础气象数据，部分样地产量数据</a:t>
            </a:r>
            <a:endParaRPr lang="en-US" sz="2000" dirty="0">
              <a:latin typeface="黑体" charset="0"/>
              <a:ea typeface="黑体" charset="0"/>
              <a:cs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47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1631</Words>
  <Application>Microsoft Macintosh PowerPoint</Application>
  <PresentationFormat>宽屏</PresentationFormat>
  <Paragraphs>189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等线 Light</vt:lpstr>
      <vt:lpstr>黑体</vt:lpstr>
      <vt:lpstr>宋体</vt:lpstr>
      <vt:lpstr>Heiti SC Light</vt:lpstr>
      <vt:lpstr>Heiti SC Medium</vt:lpstr>
      <vt:lpstr>Arial</vt:lpstr>
      <vt:lpstr>Helvetica</vt:lpstr>
      <vt:lpstr>Times New Roman</vt:lpstr>
      <vt:lpstr>Wingdings</vt:lpstr>
      <vt:lpstr>Office 主题​​</vt:lpstr>
      <vt:lpstr>PowerPoint 演示文稿</vt:lpstr>
      <vt:lpstr>PowerPoint 演示文稿</vt:lpstr>
      <vt:lpstr>上次农业遥感比赛结果</vt:lpstr>
      <vt:lpstr>比赛数据集介绍</vt:lpstr>
      <vt:lpstr>基线模型介绍</vt:lpstr>
      <vt:lpstr>改进点介绍</vt:lpstr>
      <vt:lpstr>混合损失</vt:lpstr>
      <vt:lpstr>解码头增加OCR模块</vt:lpstr>
      <vt:lpstr>解码头增加OCR模块</vt:lpstr>
      <vt:lpstr>噪声数据增强</vt:lpstr>
      <vt:lpstr>损失加权fine-tune</vt:lpstr>
      <vt:lpstr>损失加权fine-tune</vt:lpstr>
      <vt:lpstr>专家网络</vt:lpstr>
      <vt:lpstr>专家网络</vt:lpstr>
      <vt:lpstr>改进点和效果</vt:lpstr>
      <vt:lpstr>经验总结</vt:lpstr>
      <vt:lpstr>本次比赛去年情况介绍</vt:lpstr>
      <vt:lpstr>参赛和获奖情况</vt:lpstr>
      <vt:lpstr>地块识别赛道</vt:lpstr>
      <vt:lpstr>作物识别赛道</vt:lpstr>
      <vt:lpstr>产量预测赛道</vt:lpstr>
      <vt:lpstr>本次比赛今年情况介绍</vt:lpstr>
      <vt:lpstr>本次比赛今年情况介绍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上次农业遥感比赛总结</dc:title>
  <dc:creator>朱焰</dc:creator>
  <cp:lastModifiedBy>18360725582@163.com</cp:lastModifiedBy>
  <cp:revision>188</cp:revision>
  <dcterms:created xsi:type="dcterms:W3CDTF">2022-06-09T04:54:07Z</dcterms:created>
  <dcterms:modified xsi:type="dcterms:W3CDTF">2022-06-14T03:01:52Z</dcterms:modified>
</cp:coreProperties>
</file>